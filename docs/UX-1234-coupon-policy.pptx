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f5b5b3af93f41c6" /><Relationship Type="http://schemas.openxmlformats.org/officeDocument/2006/relationships/extended-properties" Target="/docProps/app.xml" Id="R32cfccc05d7944b8" /><Relationship Type="http://schemas.openxmlformats.org/officeDocument/2006/relationships/officeDocument" Target="/ppt/presentation.xml" Id="R52dc26410d75473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f44ebd64e224571"/>
  </p:sldMasterIdLst>
  <p:notesMasterIdLst>
    <p:notesMasterId xmlns:r="http://schemas.openxmlformats.org/officeDocument/2006/relationships" r:id="R07ad597b9e754d12"/>
  </p:notesMasterIdLst>
  <p:sldIdLst>
    <p:sldId xmlns:r="http://schemas.openxmlformats.org/officeDocument/2006/relationships" id="256" r:id="Raa7de02854a7426a"/>
    <p:sldId xmlns:r="http://schemas.openxmlformats.org/officeDocument/2006/relationships" id="257" r:id="R5193e5f9dd364ac7"/>
    <p:sldId xmlns:r="http://schemas.openxmlformats.org/officeDocument/2006/relationships" id="258" r:id="R58e42ce70088459d"/>
    <p:sldId xmlns:r="http://schemas.openxmlformats.org/officeDocument/2006/relationships" id="259" r:id="R719fd8a1d66c4b6a"/>
    <p:sldId xmlns:r="http://schemas.openxmlformats.org/officeDocument/2006/relationships" id="260" r:id="R179306de1db14010"/>
    <p:sldId xmlns:r="http://schemas.openxmlformats.org/officeDocument/2006/relationships" id="261" r:id="Rade097ce430b4c3f"/>
    <p:sldId xmlns:r="http://schemas.openxmlformats.org/officeDocument/2006/relationships" id="262" r:id="R9ed30746d65d486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5d94f158a4f48b7" /><Relationship Type="http://schemas.openxmlformats.org/officeDocument/2006/relationships/slideMaster" Target="/ppt/slideMasters/slideMaster1.xml" Id="Ref44ebd64e224571" /><Relationship Type="http://schemas.openxmlformats.org/officeDocument/2006/relationships/notesMaster" Target="/ppt/notesMasters/notesMaster1.xml" Id="R07ad597b9e754d12" /><Relationship Type="http://schemas.openxmlformats.org/officeDocument/2006/relationships/presProps" Target="/ppt/presProps.xml" Id="R9df4b72c691e433f" /><Relationship Type="http://schemas.openxmlformats.org/officeDocument/2006/relationships/tableStyles" Target="/ppt/tableStyles.xml" Id="Re8be80e9e49a4734" /><Relationship Type="http://schemas.openxmlformats.org/officeDocument/2006/relationships/slide" Target="/ppt/slides/slide1.xml" Id="Raa7de02854a7426a" /><Relationship Type="http://schemas.openxmlformats.org/officeDocument/2006/relationships/slide" Target="/ppt/slides/slide2.xml" Id="R5193e5f9dd364ac7" /><Relationship Type="http://schemas.openxmlformats.org/officeDocument/2006/relationships/slide" Target="/ppt/slides/slide3.xml" Id="R58e42ce70088459d" /><Relationship Type="http://schemas.openxmlformats.org/officeDocument/2006/relationships/slide" Target="/ppt/slides/slide4.xml" Id="R719fd8a1d66c4b6a" /><Relationship Type="http://schemas.openxmlformats.org/officeDocument/2006/relationships/slide" Target="/ppt/slides/slide5.xml" Id="R179306de1db14010" /><Relationship Type="http://schemas.openxmlformats.org/officeDocument/2006/relationships/slide" Target="/ppt/slides/slide6.xml" Id="Rade097ce430b4c3f" /><Relationship Type="http://schemas.openxmlformats.org/officeDocument/2006/relationships/slide" Target="/ppt/slides/slide7.xml" Id="R9ed30746d65d486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839e8d2112447e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2fafeb94b014bcd" /><Relationship Type="http://schemas.openxmlformats.org/officeDocument/2006/relationships/notesMaster" Target="/ppt/notesMasters/notesMaster1.xml" Id="R219805f1f8c6411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2233c60ee9049c7" /><Relationship Type="http://schemas.openxmlformats.org/officeDocument/2006/relationships/notesMaster" Target="/ppt/notesMasters/notesMaster1.xml" Id="R809b7e0e6f6a41a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09711eed0d4428c" /><Relationship Type="http://schemas.openxmlformats.org/officeDocument/2006/relationships/notesMaster" Target="/ppt/notesMasters/notesMaster1.xml" Id="Rd8064229d34e4dc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1b18b43515447b3" /><Relationship Type="http://schemas.openxmlformats.org/officeDocument/2006/relationships/notesMaster" Target="/ppt/notesMasters/notesMaster1.xml" Id="R480623addbda432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1ac8e5b832c4308" /><Relationship Type="http://schemas.openxmlformats.org/officeDocument/2006/relationships/notesMaster" Target="/ppt/notesMasters/notesMaster1.xml" Id="R92a070df4bab4e8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cdd36567f684478" /><Relationship Type="http://schemas.openxmlformats.org/officeDocument/2006/relationships/notesMaster" Target="/ppt/notesMasters/notesMaster1.xml" Id="Rb03663e48cf44da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e8ec6117b814c76" /><Relationship Type="http://schemas.openxmlformats.org/officeDocument/2006/relationships/notesMaster" Target="/ppt/notesMasters/notesMaster1.xml" Id="Ra662998819f2410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사용자 요청 UX-1234. 쿠폰 사용 최소 상품 금액을 30,000원에서 50,000원으로 변경. 현행 구현: /Users/ryeong/develop/nextjs-starter-kit/lib/shop.ts 및 app/(marketing)/order/page.tsx. 현재 서비스는 브라우저 저장 기반 테스트 스토어. 이 문서는 기획안이며 정책 변경을 코드에 반영하지 않음.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사용자 요청 UX-1234. 쿠폰 사용 최소 상품 금액을 30,000원에서 50,000원으로 변경. 현행 구현: /Users/ryeong/develop/nextjs-starter-kit/lib/shop.ts 및 app/(marketing)/order/page.tsx. 현재 서비스는 브라우저 저장 기반 테스트 스토어. 이 문서는 기획안이며 정책 변경을 코드에 반영하지 않음.</a:t>
            </a:r>
          </a:p>
          <a:p xmlns:a="http://schemas.openxmlformats.org/drawingml/2006/main">
            <a:r>
              <a:t>3,000원 할인, 로그인 및 1회 사용, 무료배송은 기존 구현을 유지하는 범위로 정의함.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사용자 요청 UX-1234. 쿠폰 사용 최소 상품 금액을 30,000원에서 50,000원으로 변경. 현행 구현: /Users/ryeong/develop/nextjs-starter-kit/lib/shop.ts 및 app/(marketing)/order/page.tsx. 현재 서비스는 브라우저 저장 기반 테스트 스토어. 이 문서는 기획안이며 정책 변경을 코드에 반영하지 않음.</a:t>
            </a:r>
          </a:p>
          <a:p xmlns:a="http://schemas.openxmlformats.org/drawingml/2006/main">
            <a:r>
              <a:t>실제 캡처: http://localhost:3000/order, order-32000.png. 서빙 보드 1개 32,000원 + 배송비 3,000원 - 현행 쿠폰 3,000원 = 현행 총 32,000원. 빨간 테두리와 번호는 편집 가능한 변경 지점 표시이며, 캡처 속 화면은 현행 원본. 변경 후 할인 0원, 총 35,000원.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사용자 요청 UX-1234. 쿠폰 사용 최소 상품 금액을 30,000원에서 50,000원으로 변경. 현행 구현: /Users/ryeong/develop/nextjs-starter-kit/lib/shop.ts 및 app/(marketing)/order/page.tsx. 현재 서비스는 브라우저 저장 기반 테스트 스토어. 이 문서는 기획안이며 정책 변경을 코드에 반영하지 않음.</a:t>
            </a:r>
          </a:p>
          <a:p xmlns:a="http://schemas.openxmlformats.org/drawingml/2006/main">
            <a:r>
              <a:t>현행 원본 order-32000.png에서 쿠폰 영역만 자름. 문구 변경안은 캡처 바깥의 편집 가능한 텍스트로 기입. 로그인 필요 및 사용 완료 상태는 기존 우선순위를 유지. 금액이 미달하면 기존 선택과 할인을 해제하며 쿠폰을 소진하지 않음.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사용자 요청 UX-1234. 쿠폰 사용 최소 상품 금액을 30,000원에서 50,000원으로 변경. 현행 구현: /Users/ryeong/develop/nextjs-starter-kit/lib/shop.ts 및 app/(marketing)/order/page.tsx. 현재 서비스는 브라우저 저장 기반 테스트 스토어. 이 문서는 기획안이며 정책 변경을 코드에 반영하지 않음.</a:t>
            </a:r>
          </a:p>
          <a:p xmlns:a="http://schemas.openxmlformats.org/drawingml/2006/main">
            <a:r>
              <a:t>실제 캡처: http://localhost:3000/order, order-50000.png. 현행에서도 이미 적용 가능한 금액이므로 숫자 결과는 변경안과 동일. 캡처 내 쿠폰 안내의 30,000원 문구는 변경 전 상태이며 50,000원으로 변경 대상. 테스트 계정은 로그인 상태, 미사용 쿠폰을 선택한 상황.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사용자 요청 UX-1234. 쿠폰 사용 최소 상품 금액을 30,000원에서 50,000원으로 변경. 현행 구현: /Users/ryeong/develop/nextjs-starter-kit/lib/shop.ts 및 app/(marketing)/order/page.tsx. 현재 서비스는 브라우저 저장 기반 테스트 스토어. 이 문서는 기획안이며 정책 변경을 코드에 반영하지 않음.</a:t>
            </a:r>
          </a:p>
          <a:p xmlns:a="http://schemas.openxmlformats.org/drawingml/2006/main">
            <a:r>
              <a:t>경계 금액은 로직 검증용 테스트 데이터로 현행 상품 가격 조합과 무관. 49,999원에 배송비를 더해도 사용 불가. 정책 전환 전 열어 둔 주문에서도 제출 시 재검증. 실패 시 쿠폰 미소진. 50,000원 이상이라도 쿠폰 미선택 시 할인 0원. 브라우저 새로고침으로 사용 완료 상태가 복구되어야 함.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사용자 요청 UX-1234. 쿠폰 사용 최소 상품 금액을 30,000원에서 50,000원으로 변경. 현행 구현: /Users/ryeong/develop/nextjs-starter-kit/lib/shop.ts 및 app/(marketing)/order/page.tsx. 현재 서비스는 브라우저 저장 기반 테스트 스토어. 이 문서는 기획안이며 정책 변경을 코드에 반영하지 않음.</a:t>
            </a:r>
          </a:p>
          <a:p xmlns:a="http://schemas.openxmlformats.org/drawingml/2006/main">
            <a:r>
              <a:t>개발 대상: lib/shop.ts의 TEST_COUPON.minimum 및 관련 합계 함수, app/(marketing)/order/page.tsx의 하드코딩 안내 문구, tests/shop.test.mjs. 현행 localStorage는 최소 사용 금액을 저장하지 않아 새 정책값을 참조하도록 유지 가능. 기존 사용 완료 플래그는 초기화하지 않음. 기발급 쿠폰 적용 범위와 시행 일시는 사용자 미지정이므로 확정 필요로 구분.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55e2d2e8d3c4f8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820bf306da04c4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5e86ba4f5e1453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1d1dccffc344c2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deb1fa80c8b4306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6a7dc04278b47a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5C0C365-2269-4329-8E0D-CAD2CE2423C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034F13C8-BB2B-494E-ADC4-C484F7497F8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94C5730B-F3D7-45DD-8864-C95251BD328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910A835-B4BA-4F4D-AF67-7FFC5B27E79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CF3432D3-F807-4397-9F7F-7FD452FEA65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437E05ED-588A-4701-8665-BBAC55EAE20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BEC0C65-839E-4185-AC50-FC6CC72FCA8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26E98F96-C2A4-49AE-890E-19749456233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28AA710-973E-49BE-844F-2BCA2A231FC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F7BFFF7-6B32-4753-97A4-64914E00983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eb2f246cb4641e9" /><Relationship Type="http://schemas.openxmlformats.org/officeDocument/2006/relationships/slideLayout" Target="/ppt/slideLayouts/slideLayout1.xml" Id="R1bd4e35b4b1f4234" /><Relationship Type="http://schemas.openxmlformats.org/officeDocument/2006/relationships/slideLayout" Target="/ppt/slideLayouts/slideLayout2.xml" Id="Rb478882450ef4ae1" /><Relationship Type="http://schemas.openxmlformats.org/officeDocument/2006/relationships/slideLayout" Target="/ppt/slideLayouts/slideLayout3.xml" Id="R92764309e9e64b8a" /><Relationship Type="http://schemas.openxmlformats.org/officeDocument/2006/relationships/slideLayout" Target="/ppt/slideLayouts/slideLayout4.xml" Id="R638fab99c9774b2a" /><Relationship Type="http://schemas.openxmlformats.org/officeDocument/2006/relationships/slideLayout" Target="/ppt/slideLayouts/slideLayout5.xml" Id="R2e9d574c32484213" /><Relationship Type="http://schemas.openxmlformats.org/officeDocument/2006/relationships/slideLayout" Target="/ppt/slideLayouts/slideLayout6.xml" Id="Re680755eb45b479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bd4e35b4b1f4234"/>
    <p:sldLayoutId xmlns:r="http://schemas.openxmlformats.org/officeDocument/2006/relationships" id="2147483650" r:id="Rb478882450ef4ae1"/>
    <p:sldLayoutId xmlns:r="http://schemas.openxmlformats.org/officeDocument/2006/relationships" id="2147483651" r:id="R92764309e9e64b8a"/>
    <p:sldLayoutId xmlns:r="http://schemas.openxmlformats.org/officeDocument/2006/relationships" id="2147483652" r:id="R638fab99c9774b2a"/>
    <p:sldLayoutId xmlns:r="http://schemas.openxmlformats.org/officeDocument/2006/relationships" id="2147483653" r:id="R2e9d574c32484213"/>
    <p:sldLayoutId xmlns:r="http://schemas.openxmlformats.org/officeDocument/2006/relationships" id="2147483654" r:id="Re680755eb45b479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d9ecd50f1ba40de" /><Relationship Type="http://schemas.openxmlformats.org/officeDocument/2006/relationships/notesSlide" Target="/ppt/notesSlides/notesSlide1.xml" Id="R544fbe6efc5d427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321ce90c156481e" /><Relationship Type="http://schemas.openxmlformats.org/officeDocument/2006/relationships/notesSlide" Target="/ppt/notesSlides/notesSlide2.xml" Id="Reaca08031afb45d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b319224f71a4ef7" /><Relationship Type="http://schemas.openxmlformats.org/officeDocument/2006/relationships/image" Target="/ppt/media/image.png" Id="Rf75328e4ba714817" /><Relationship Type="http://schemas.openxmlformats.org/officeDocument/2006/relationships/notesSlide" Target="/ppt/notesSlides/notesSlide3.xml" Id="R179f711b59974a3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11ac284b24640a1" /><Relationship Type="http://schemas.openxmlformats.org/officeDocument/2006/relationships/image" Target="/ppt/media/image2.png" Id="R88f66fea9c4b4f77" /><Relationship Type="http://schemas.openxmlformats.org/officeDocument/2006/relationships/notesSlide" Target="/ppt/notesSlides/notesSlide4.xml" Id="Rd7ed9585c57d479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39da389cd5d4027" /><Relationship Type="http://schemas.openxmlformats.org/officeDocument/2006/relationships/image" Target="/ppt/media/image3.png" Id="R8b1dcf652e63463e" /><Relationship Type="http://schemas.openxmlformats.org/officeDocument/2006/relationships/notesSlide" Target="/ppt/notesSlides/notesSlide5.xml" Id="R259be88773af44b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0afb39ddacc4fd6" /><Relationship Type="http://schemas.openxmlformats.org/officeDocument/2006/relationships/notesSlide" Target="/ppt/notesSlides/notesSlide6.xml" Id="R0b5d6f541235497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934534f2e4342dd" /><Relationship Type="http://schemas.openxmlformats.org/officeDocument/2006/relationships/notesSlide" Target="/ppt/notesSlides/notesSlide7.xml" Id="R698bf89b8fbb403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E9ECD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188F31-0429-4D5C-BCD4-0BEC88960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428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5F6D50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5F6D5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5F6D50"/>
                </a:solidFill>
                <a:latin typeface="Apple SD Gothic Neo"/>
                <a:ea typeface="Apple SD Gothic Neo"/>
                <a:cs typeface="Apple SD Gothic Neo"/>
              </a:rPr>
              <a:t>ondo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F60E7D-D6F4-43C5-A01C-D3DA4D900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429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5F6D50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5F6D5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5F6D50"/>
                </a:solidFill>
                <a:latin typeface="Apple SD Gothic Neo"/>
                <a:ea typeface="Apple SD Gothic Neo"/>
                <a:cs typeface="Apple SD Gothic Neo"/>
              </a:rPr>
              <a:t>UX-1234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E99DB7-9D04-4ED4-9B19-3AC7D5B3A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429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757E6F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757E6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757E6F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A53800-A2A1-4C69-B2A1-52D1D7B58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7165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5F6D50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5F6D5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1">
                <a:solidFill>
                  <a:srgbClr val="5F6D50"/>
                </a:solidFill>
                <a:latin typeface="Apple SD Gothic Neo"/>
                <a:ea typeface="Apple SD Gothic Neo"/>
                <a:cs typeface="Apple SD Gothic Neo"/>
              </a:rPr>
              <a:t>쿠폰 사용 조건 변경 기획서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BDEFB5-B3AC-4B98-9826-8A3CDA158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1001375" cy="1647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425" b="0">
                <a:solidFill>
                  <a:srgbClr val="303C30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4425" b="0">
                <a:solidFill>
                  <a:srgbClr val="303C3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4425" b="0">
                <a:solidFill>
                  <a:srgbClr val="303C30"/>
                </a:solidFill>
                <a:latin typeface="Apple SD Gothic Neo"/>
                <a:ea typeface="Apple SD Gothic Neo"/>
                <a:cs typeface="Apple SD Gothic Neo"/>
              </a:rPr>
              <a:t>최소 주문 금액</a:t>
            </a:r>
          </a:p>
          <a:p xmlns:a="http://schemas.openxmlformats.org/drawingml/2006/main">
            <a:pPr>
              <a:defRPr sz="4425" b="0">
                <a:solidFill>
                  <a:srgbClr val="303C3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4425" b="0">
                <a:solidFill>
                  <a:srgbClr val="303C30"/>
                </a:solidFill>
                <a:latin typeface="Apple SD Gothic Neo"/>
                <a:ea typeface="Apple SD Gothic Neo"/>
                <a:cs typeface="Apple SD Gothic Neo"/>
              </a:rPr>
              <a:t>30,000원에서 50,000원으로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EE1D0B-8064-44B7-843C-554218A12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95850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303C30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303C3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0">
                <a:solidFill>
                  <a:srgbClr val="303C30"/>
                </a:solidFill>
                <a:latin typeface="Apple SD Gothic Neo"/>
                <a:ea typeface="Apple SD Gothic Neo"/>
                <a:cs typeface="Apple SD Gothic Neo"/>
              </a:rPr>
              <a:t>주문 화면 변경 명세 및 검증 기준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4D7611-BE59-4DE2-B073-3F98FC294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43575"/>
            <a:ext cx="1066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757E6F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757E6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757E6F"/>
                </a:solidFill>
                <a:latin typeface="Apple SD Gothic Neo"/>
                <a:ea typeface="Apple SD Gothic Neo"/>
                <a:cs typeface="Apple SD Gothic Neo"/>
              </a:rPr>
              <a:t>2026.10.16  /  검토용 v1.0</a:t>
            </a:r>
          </a:p>
        </p:txBody>
      </p:sp>
    </p:spTree>
    <p:extLst>
      <p:ext uri="{BB962C8B-B14F-4D97-AF65-F5344CB8AC3E}">
        <p14:creationId xmlns:p14="http://schemas.microsoft.com/office/powerpoint/2010/main" val="68725027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C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85DB9A-473C-45AE-9889-BE88C39D7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428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5F6D50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5F6D5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5F6D50"/>
                </a:solidFill>
                <a:latin typeface="Apple SD Gothic Neo"/>
                <a:ea typeface="Apple SD Gothic Neo"/>
                <a:cs typeface="Apple SD Gothic Neo"/>
              </a:rPr>
              <a:t>ondo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E9CD8D-DDD4-40EC-B84D-770199D92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429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5F6D50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5F6D5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5F6D50"/>
                </a:solidFill>
                <a:latin typeface="Apple SD Gothic Neo"/>
                <a:ea typeface="Apple SD Gothic Neo"/>
                <a:cs typeface="Apple SD Gothic Neo"/>
              </a:rPr>
              <a:t>UX-1234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CAA6BC-B85F-4883-BE20-040179D32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429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757E6F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757E6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757E6F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E3B154-C0AF-4F81-9B30-5AFF10E90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1001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0">
                <a:solidFill>
                  <a:srgbClr val="303C30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3000" b="0">
                <a:solidFill>
                  <a:srgbClr val="303C3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0">
                <a:solidFill>
                  <a:srgbClr val="303C30"/>
                </a:solidFill>
                <a:latin typeface="Apple SD Gothic Neo"/>
                <a:ea typeface="Apple SD Gothic Neo"/>
                <a:cs typeface="Apple SD Gothic Neo"/>
              </a:rPr>
              <a:t>쿠폰 정책 변경 범위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0CB5FD-014B-46C2-BE3C-9DAB602E0938}"/>
              </a:ext>
            </a:extLst>
          </p:cNvPr>
          <p:cNvGraphicFramePr/>
          <p:nvPr/>
        </p:nvGraphicFramePr>
        <p:xfrm>
          <a:off xmlns:a="http://schemas.openxmlformats.org/drawingml/2006/main" x="609600" y="2105025"/>
          <a:ext xmlns:a="http://schemas.openxmlformats.org/drawingml/2006/main" cx="10972800" cy="3429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81250"/>
                <a:gridCol w="3905250"/>
                <a:gridCol w="4686300"/>
              </a:tblGrid>
              <a:tr h="57150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303C3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항목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DE2D5"/>
                      </a:solidFill>
                    </a:lnL>
                    <a:lnR w="9525">
                      <a:solidFill>
                        <a:srgbClr val="DDE2D5"/>
                      </a:solidFill>
                    </a:lnR>
                    <a:lnT w="9525">
                      <a:solidFill>
                        <a:srgbClr val="DDE2D5"/>
                      </a:solidFill>
                    </a:lnT>
                    <a:lnB w="9525">
                      <a:solidFill>
                        <a:srgbClr val="DDE2D5"/>
                      </a:solidFill>
                    </a:lnB>
                    <a:solidFill>
                      <a:srgbClr val="E7EC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303C3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현행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DE2D5"/>
                      </a:solidFill>
                    </a:lnR>
                    <a:lnT w="9525">
                      <a:solidFill>
                        <a:srgbClr val="DDE2D5"/>
                      </a:solidFill>
                    </a:lnT>
                    <a:lnB w="9525">
                      <a:solidFill>
                        <a:srgbClr val="DDE2D5"/>
                      </a:solidFill>
                    </a:lnB>
                    <a:solidFill>
                      <a:srgbClr val="E7EC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303C3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변경안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DE2D5"/>
                      </a:solidFill>
                    </a:lnR>
                    <a:lnT w="9525">
                      <a:solidFill>
                        <a:srgbClr val="DDE2D5"/>
                      </a:solidFill>
                    </a:lnT>
                    <a:lnB w="9525">
                      <a:solidFill>
                        <a:srgbClr val="DDE2D5"/>
                      </a:solidFill>
                    </a:lnB>
                    <a:solidFill>
                      <a:srgbClr val="E7ECD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303C3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최소 상품 합계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DE2D5"/>
                      </a:solidFill>
                    </a:lnL>
                    <a:lnR w="9525">
                      <a:solidFill>
                        <a:srgbClr val="DDE2D5"/>
                      </a:solidFill>
                    </a:lnR>
                    <a:lnB w="9525">
                      <a:solidFill>
                        <a:srgbClr val="DDE2D5"/>
                      </a:solidFill>
                    </a:lnB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303C3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30,000원 이상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DE2D5"/>
                      </a:solidFill>
                    </a:lnR>
                    <a:lnB w="9525">
                      <a:solidFill>
                        <a:srgbClr val="DDE2D5"/>
                      </a:solidFill>
                    </a:lnB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303C3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50,000원 이상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DE2D5"/>
                      </a:solidFill>
                    </a:lnR>
                    <a:lnB w="9525">
                      <a:solidFill>
                        <a:srgbClr val="DDE2D5"/>
                      </a:solidFill>
                    </a:lnB>
                    <a:solidFill>
                      <a:srgbClr val="FCFBF8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303C3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할인 금액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DE2D5"/>
                      </a:solidFill>
                    </a:lnL>
                    <a:lnR w="9525">
                      <a:solidFill>
                        <a:srgbClr val="DDE2D5"/>
                      </a:solidFill>
                    </a:lnR>
                    <a:lnB w="9525">
                      <a:solidFill>
                        <a:srgbClr val="DDE2D5"/>
                      </a:solidFill>
                    </a:lnB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303C3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3,000원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DE2D5"/>
                      </a:solidFill>
                    </a:lnR>
                    <a:lnB w="9525">
                      <a:solidFill>
                        <a:srgbClr val="DDE2D5"/>
                      </a:solidFill>
                    </a:lnB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303C3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3,000원 유지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DE2D5"/>
                      </a:solidFill>
                    </a:lnR>
                    <a:lnB w="9525">
                      <a:solidFill>
                        <a:srgbClr val="DDE2D5"/>
                      </a:solidFill>
                    </a:lnB>
                    <a:solidFill>
                      <a:srgbClr val="FCFBF8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303C3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계산 기준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DE2D5"/>
                      </a:solidFill>
                    </a:lnL>
                    <a:lnR w="9525">
                      <a:solidFill>
                        <a:srgbClr val="DDE2D5"/>
                      </a:solidFill>
                    </a:lnR>
                    <a:lnB w="9525">
                      <a:solidFill>
                        <a:srgbClr val="DDE2D5"/>
                      </a:solidFill>
                    </a:lnB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303C3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쿠폰 할인 전 상품 합계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DE2D5"/>
                      </a:solidFill>
                    </a:lnR>
                    <a:lnB w="9525">
                      <a:solidFill>
                        <a:srgbClr val="DDE2D5"/>
                      </a:solidFill>
                    </a:lnB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303C3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동일, 배송비 제외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DE2D5"/>
                      </a:solidFill>
                    </a:lnR>
                    <a:lnB w="9525">
                      <a:solidFill>
                        <a:srgbClr val="DDE2D5"/>
                      </a:solidFill>
                    </a:lnB>
                    <a:solidFill>
                      <a:srgbClr val="FCFBF8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303C3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사용 조건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DE2D5"/>
                      </a:solidFill>
                    </a:lnL>
                    <a:lnR w="9525">
                      <a:solidFill>
                        <a:srgbClr val="DDE2D5"/>
                      </a:solidFill>
                    </a:lnR>
                    <a:lnB w="9525">
                      <a:solidFill>
                        <a:srgbClr val="DDE2D5"/>
                      </a:solidFill>
                    </a:lnB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303C3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로그인한 계정의 미사용 쿠폰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DE2D5"/>
                      </a:solidFill>
                    </a:lnR>
                    <a:lnB w="9525">
                      <a:solidFill>
                        <a:srgbClr val="DDE2D5"/>
                      </a:solidFill>
                    </a:lnB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303C3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동일, 계정당 1회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DE2D5"/>
                      </a:solidFill>
                    </a:lnR>
                    <a:lnB w="9525">
                      <a:solidFill>
                        <a:srgbClr val="DDE2D5"/>
                      </a:solidFill>
                    </a:lnB>
                    <a:solidFill>
                      <a:srgbClr val="FCFBF8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303C3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무료배송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DE2D5"/>
                      </a:solidFill>
                    </a:lnL>
                    <a:lnR w="9525">
                      <a:solidFill>
                        <a:srgbClr val="DDE2D5"/>
                      </a:solidFill>
                    </a:lnR>
                    <a:lnB w="9525">
                      <a:solidFill>
                        <a:srgbClr val="DDE2D5"/>
                      </a:solidFill>
                    </a:lnB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303C3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할인 전 상품 합계 50,000원 이상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DE2D5"/>
                      </a:solidFill>
                    </a:lnR>
                    <a:lnB w="9525">
                      <a:solidFill>
                        <a:srgbClr val="DDE2D5"/>
                      </a:solidFill>
                    </a:lnB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303C3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동일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DE2D5"/>
                      </a:solidFill>
                    </a:lnR>
                    <a:lnB w="9525">
                      <a:solidFill>
                        <a:srgbClr val="DDE2D5"/>
                      </a:solidFill>
                    </a:lnB>
                    <a:solidFill>
                      <a:srgbClr val="FCFBF8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E470F4-FA24-47F6-A540-EE45E614A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5F6D50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5F6D5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5F6D50"/>
                </a:solidFill>
                <a:latin typeface="Apple SD Gothic Neo"/>
                <a:ea typeface="Apple SD Gothic Neo"/>
                <a:cs typeface="Apple SD Gothic Neo"/>
              </a:rPr>
              <a:t>50,000원도 사용 가능하며, 쿠폰을 선택한 경우에만 할인합니다.</a:t>
            </a:r>
          </a:p>
        </p:txBody>
      </p:sp>
    </p:spTree>
    <p:extLst>
      <p:ext uri="{BB962C8B-B14F-4D97-AF65-F5344CB8AC3E}">
        <p14:creationId xmlns:p14="http://schemas.microsoft.com/office/powerpoint/2010/main" val="81710254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C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D75CCB1-E199-48E5-8BD0-17B2C9E2E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428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5F6D50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5F6D5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5F6D50"/>
                </a:solidFill>
                <a:latin typeface="Apple SD Gothic Neo"/>
                <a:ea typeface="Apple SD Gothic Neo"/>
                <a:cs typeface="Apple SD Gothic Neo"/>
              </a:rPr>
              <a:t>ondo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C5434B-86D5-4F3B-9C5A-116B9DEA7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429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5F6D50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5F6D5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5F6D50"/>
                </a:solidFill>
                <a:latin typeface="Apple SD Gothic Neo"/>
                <a:ea typeface="Apple SD Gothic Neo"/>
                <a:cs typeface="Apple SD Gothic Neo"/>
              </a:rPr>
              <a:t>UX-1234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7C3F47-5581-4FC6-AA10-40F92554F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429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757E6F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757E6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757E6F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013BFD-2E12-477F-BCEB-0254674B5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1001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0">
                <a:solidFill>
                  <a:srgbClr val="303C30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3000" b="0">
                <a:solidFill>
                  <a:srgbClr val="303C3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0">
                <a:solidFill>
                  <a:srgbClr val="303C30"/>
                </a:solidFill>
                <a:latin typeface="Apple SD Gothic Neo"/>
                <a:ea typeface="Apple SD Gothic Neo"/>
                <a:cs typeface="Apple SD Gothic Neo"/>
              </a:rPr>
              <a:t>주문 화면 변경 위치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0F7BB5-7018-485C-8CF8-175E84EC8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81175"/>
            <a:ext cx="10972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757E6F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757E6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757E6F"/>
                </a:solidFill>
                <a:latin typeface="Apple SD Gothic Neo"/>
                <a:ea typeface="Apple SD Gothic Neo"/>
                <a:cs typeface="Apple SD Gothic Neo"/>
              </a:rPr>
              <a:t>현행 캡처: 상품 합계 32,000원 / 쿠폰 선택 상태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147035-5FF5-41BD-BDE9-2E8795F7AC5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5328e4ba714817"/>
          <a:stretch xmlns:a="http://schemas.openxmlformats.org/drawingml/2006/main"/>
        </p:blipFill>
        <p:spPr>
          <a:xfrm xmlns:a="http://schemas.openxmlformats.org/drawingml/2006/main">
            <a:off x="609600" y="2325876"/>
            <a:ext cx="7200900" cy="3844548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9D5230-9475-47F8-AEBE-BBCB7EF71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674" y="5198358"/>
            <a:ext cx="4424282" cy="5248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34937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F84984-9E6D-4B58-BC38-7C79D82F6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49" y="5217408"/>
            <a:ext cx="33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B34937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B3493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B34937"/>
                </a:solidFill>
                <a:latin typeface="Apple SD Gothic Neo"/>
                <a:ea typeface="Apple SD Gothic Neo"/>
                <a:cs typeface="Apple SD Gothic Neo"/>
              </a:rPr>
              <a:t>①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43A8F1-B9A2-4D03-AC1A-39C266CB1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674" y="5778091"/>
            <a:ext cx="4424282" cy="1830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34937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E789EC-8A08-4B78-9C84-A20615477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49" y="5797141"/>
            <a:ext cx="33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B34937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B3493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B34937"/>
                </a:solidFill>
                <a:latin typeface="Apple SD Gothic Neo"/>
                <a:ea typeface="Apple SD Gothic Neo"/>
                <a:cs typeface="Apple SD Gothic Neo"/>
              </a:rPr>
              <a:t>②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E00D5F-AB60-4134-ADD2-57AB754DC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9873" y="3245571"/>
            <a:ext cx="2074836" cy="13425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34937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5A5F11-4867-46DA-A975-27AD00C3C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8448" y="3264621"/>
            <a:ext cx="33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B34937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B3493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B34937"/>
                </a:solidFill>
                <a:latin typeface="Apple SD Gothic Neo"/>
                <a:ea typeface="Apple SD Gothic Neo"/>
                <a:cs typeface="Apple SD Gothic Neo"/>
              </a:rPr>
              <a:t>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AB2452-1E70-4C24-9E36-0904DDA90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1025" y="2343150"/>
            <a:ext cx="3381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B34937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B3493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B34937"/>
                </a:solidFill>
                <a:latin typeface="Apple SD Gothic Neo"/>
                <a:ea typeface="Apple SD Gothic Neo"/>
                <a:cs typeface="Apple SD Gothic Neo"/>
              </a:rPr>
              <a:t>① 쿠폰 안내와 선택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12E9AA2-0508-4B2B-B0EF-5E29CFA81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1025" y="2809875"/>
            <a:ext cx="33813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03C30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03C3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303C30"/>
                </a:solidFill>
                <a:latin typeface="Apple SD Gothic Neo"/>
                <a:ea typeface="Apple SD Gothic Neo"/>
                <a:cs typeface="Apple SD Gothic Neo"/>
              </a:rPr>
              <a:t>50,000원 이상으로 수정</a:t>
            </a:r>
          </a:p>
          <a:p xmlns:a="http://schemas.openxmlformats.org/drawingml/2006/main">
            <a:pPr>
              <a:defRPr sz="1725" b="0">
                <a:solidFill>
                  <a:srgbClr val="303C3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303C30"/>
                </a:solidFill>
                <a:latin typeface="Apple SD Gothic Neo"/>
                <a:ea typeface="Apple SD Gothic Neo"/>
                <a:cs typeface="Apple SD Gothic Neo"/>
              </a:rPr>
              <a:t>32,000원에서는 선택 불가</a:t>
            </a:r>
          </a:p>
          <a:p xmlns:a="http://schemas.openxmlformats.org/drawingml/2006/main">
            <a:pPr>
              <a:defRPr sz="1725" b="0">
                <a:solidFill>
                  <a:srgbClr val="303C3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303C30"/>
                </a:solidFill>
                <a:latin typeface="Apple SD Gothic Neo"/>
                <a:ea typeface="Apple SD Gothic Neo"/>
                <a:cs typeface="Apple SD Gothic Neo"/>
              </a:rPr>
              <a:t>상태 표시: 금액 미달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AC42F6E-F2CF-4471-B075-0115792AD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1025" y="4029075"/>
            <a:ext cx="3381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B34937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B3493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B34937"/>
                </a:solidFill>
                <a:latin typeface="Apple SD Gothic Neo"/>
                <a:ea typeface="Apple SD Gothic Neo"/>
                <a:cs typeface="Apple SD Gothic Neo"/>
              </a:rPr>
              <a:t>② 부족 금액 안내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2C82FE2-8C94-48DE-9AE6-243C738C9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1025" y="4457700"/>
            <a:ext cx="3381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03C30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03C3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303C30"/>
                </a:solidFill>
                <a:latin typeface="Apple SD Gothic Neo"/>
                <a:ea typeface="Apple SD Gothic Neo"/>
                <a:cs typeface="Apple SD Gothic Neo"/>
              </a:rPr>
              <a:t>18,000원 더 담으면</a:t>
            </a:r>
          </a:p>
          <a:p xmlns:a="http://schemas.openxmlformats.org/drawingml/2006/main">
            <a:pPr>
              <a:defRPr sz="1725" b="0">
                <a:solidFill>
                  <a:srgbClr val="303C3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303C30"/>
                </a:solidFill>
                <a:latin typeface="Apple SD Gothic Neo"/>
                <a:ea typeface="Apple SD Gothic Neo"/>
                <a:cs typeface="Apple SD Gothic Neo"/>
              </a:rPr>
              <a:t>사용할 수 있어요.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165DA18-407B-4140-B199-1C4659AC5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1025" y="5248275"/>
            <a:ext cx="3381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B34937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B3493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B34937"/>
                </a:solidFill>
                <a:latin typeface="Apple SD Gothic Neo"/>
                <a:ea typeface="Apple SD Gothic Neo"/>
                <a:cs typeface="Apple SD Gothic Neo"/>
              </a:rPr>
              <a:t>③ 할인과 결제 금액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898965E-89B2-4BEE-854D-32095D9DB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1025" y="5695950"/>
            <a:ext cx="3381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03C30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03C3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303C30"/>
                </a:solidFill>
                <a:latin typeface="Apple SD Gothic Neo"/>
                <a:ea typeface="Apple SD Gothic Neo"/>
                <a:cs typeface="Apple SD Gothic Neo"/>
              </a:rPr>
              <a:t>쿠폰 할인 0원</a:t>
            </a:r>
          </a:p>
          <a:p xmlns:a="http://schemas.openxmlformats.org/drawingml/2006/main">
            <a:pPr>
              <a:defRPr sz="1725" b="0">
                <a:solidFill>
                  <a:srgbClr val="303C3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303C30"/>
                </a:solidFill>
                <a:latin typeface="Apple SD Gothic Neo"/>
                <a:ea typeface="Apple SD Gothic Neo"/>
                <a:cs typeface="Apple SD Gothic Neo"/>
              </a:rPr>
              <a:t>최종 금액 35,000원</a:t>
            </a:r>
          </a:p>
        </p:txBody>
      </p:sp>
    </p:spTree>
    <p:extLst>
      <p:ext uri="{BB962C8B-B14F-4D97-AF65-F5344CB8AC3E}">
        <p14:creationId xmlns:p14="http://schemas.microsoft.com/office/powerpoint/2010/main" val="50511156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C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75DE88-7E55-4EC2-9049-64360EBEF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428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5F6D50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5F6D5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5F6D50"/>
                </a:solidFill>
                <a:latin typeface="Apple SD Gothic Neo"/>
                <a:ea typeface="Apple SD Gothic Neo"/>
                <a:cs typeface="Apple SD Gothic Neo"/>
              </a:rPr>
              <a:t>ondo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D272C3-9542-4BD1-973A-9E387DFB7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429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5F6D50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5F6D5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5F6D50"/>
                </a:solidFill>
                <a:latin typeface="Apple SD Gothic Neo"/>
                <a:ea typeface="Apple SD Gothic Neo"/>
                <a:cs typeface="Apple SD Gothic Neo"/>
              </a:rPr>
              <a:t>UX-1234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857005-E7F9-4E70-8397-1A3497CB7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429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757E6F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757E6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757E6F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BEE81D-F89F-4BE6-93DC-D4945999D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1001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0">
                <a:solidFill>
                  <a:srgbClr val="303C30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3000" b="0">
                <a:solidFill>
                  <a:srgbClr val="303C3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0">
                <a:solidFill>
                  <a:srgbClr val="303C30"/>
                </a:solidFill>
                <a:latin typeface="Apple SD Gothic Neo"/>
                <a:ea typeface="Apple SD Gothic Neo"/>
                <a:cs typeface="Apple SD Gothic Neo"/>
              </a:rPr>
              <a:t>쿠폰 영역 문구와 동작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1E930C-A07B-4625-9E74-2BAF33C2A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90700"/>
            <a:ext cx="10972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757E6F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757E6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757E6F"/>
                </a:solidFill>
                <a:latin typeface="Apple SD Gothic Neo"/>
                <a:ea typeface="Apple SD Gothic Neo"/>
                <a:cs typeface="Apple SD Gothic Neo"/>
              </a:rPr>
              <a:t>현행 쿠폰 영역 확대 캡처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DB89DA-278B-4226-8E04-CD03FEEE4E8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f66fea9c4b4f77"/>
          <a:stretch xmlns:a="http://schemas.openxmlformats.org/drawingml/2006/main"/>
        </p:blipFill>
        <p:spPr>
          <a:xfrm xmlns:a="http://schemas.openxmlformats.org/drawingml/2006/main">
            <a:off x="610333" y="2324100"/>
            <a:ext cx="8952035" cy="23431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43E232-8A4D-4C0D-AF0E-CB6424A32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3686175"/>
            <a:ext cx="638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34937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97F607-4F38-46BD-AE1C-B17EC692E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705225"/>
            <a:ext cx="33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B34937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B3493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B34937"/>
                </a:solidFill>
                <a:latin typeface="Apple SD Gothic Neo"/>
                <a:ea typeface="Apple SD Gothic Neo"/>
                <a:cs typeface="Apple SD Gothic Neo"/>
              </a:rPr>
              <a:t>①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23ADD2-F3CB-4A30-BECD-58183919C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10150"/>
            <a:ext cx="1714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B34937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B3493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B34937"/>
                </a:solidFill>
                <a:latin typeface="Apple SD Gothic Neo"/>
                <a:ea typeface="Apple SD Gothic Neo"/>
                <a:cs typeface="Apple SD Gothic Neo"/>
              </a:rPr>
              <a:t>변경 문구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69DA1B-25F8-4B7B-A837-73FE314B2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5010150"/>
            <a:ext cx="9144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303C30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303C3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303C30"/>
                </a:solidFill>
                <a:latin typeface="Apple SD Gothic Neo"/>
                <a:ea typeface="Apple SD Gothic Neo"/>
                <a:cs typeface="Apple SD Gothic Neo"/>
              </a:rPr>
              <a:t>상품 합계 50,000원 이상 사용 가능 · 계정당 1회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0BFE38-C105-4652-8FC6-125A6969F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67375"/>
            <a:ext cx="1714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5F6D50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5F6D5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5F6D50"/>
                </a:solidFill>
                <a:latin typeface="Apple SD Gothic Neo"/>
                <a:ea typeface="Apple SD Gothic Neo"/>
                <a:cs typeface="Apple SD Gothic Neo"/>
              </a:rPr>
              <a:t>금액 미달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E53334-3552-4976-BADE-FA527C57D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5667375"/>
            <a:ext cx="9144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303C30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303C3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303C30"/>
                </a:solidFill>
                <a:latin typeface="Apple SD Gothic Neo"/>
                <a:ea typeface="Apple SD Gothic Neo"/>
                <a:cs typeface="Apple SD Gothic Neo"/>
              </a:rPr>
              <a:t>체크박스 비활성화, 부족 금액 = 50,000원 − 상품 합계</a:t>
            </a:r>
          </a:p>
        </p:txBody>
      </p:sp>
    </p:spTree>
    <p:extLst>
      <p:ext uri="{BB962C8B-B14F-4D97-AF65-F5344CB8AC3E}">
        <p14:creationId xmlns:p14="http://schemas.microsoft.com/office/powerpoint/2010/main" val="7303765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C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F24624-6417-47F3-8A05-D14DA1E38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428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5F6D50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5F6D5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5F6D50"/>
                </a:solidFill>
                <a:latin typeface="Apple SD Gothic Neo"/>
                <a:ea typeface="Apple SD Gothic Neo"/>
                <a:cs typeface="Apple SD Gothic Neo"/>
              </a:rPr>
              <a:t>ondo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81D2CC-2D5C-4AA6-A4A1-ABB9604B6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429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5F6D50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5F6D5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5F6D50"/>
                </a:solidFill>
                <a:latin typeface="Apple SD Gothic Neo"/>
                <a:ea typeface="Apple SD Gothic Neo"/>
                <a:cs typeface="Apple SD Gothic Neo"/>
              </a:rPr>
              <a:t>UX-1234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006498-646A-48A5-8455-EEB902252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429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757E6F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757E6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757E6F"/>
                </a:solidFill>
                <a:latin typeface="Apple SD Gothic Neo"/>
                <a:ea typeface="Apple SD Gothic Neo"/>
                <a:cs typeface="Apple SD Gothic Neo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17EDE9-BB9D-460E-A938-82A24EF19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1001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0">
                <a:solidFill>
                  <a:srgbClr val="303C30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3000" b="0">
                <a:solidFill>
                  <a:srgbClr val="303C3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0">
                <a:solidFill>
                  <a:srgbClr val="303C30"/>
                </a:solidFill>
                <a:latin typeface="Apple SD Gothic Neo"/>
                <a:ea typeface="Apple SD Gothic Neo"/>
                <a:cs typeface="Apple SD Gothic Neo"/>
              </a:rPr>
              <a:t>정확히 50,000원인 주문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CC018C-A482-4ABC-9DAF-CEB198E01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81175"/>
            <a:ext cx="10972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757E6F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757E6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757E6F"/>
                </a:solidFill>
                <a:latin typeface="Apple SD Gothic Neo"/>
                <a:ea typeface="Apple SD Gothic Neo"/>
                <a:cs typeface="Apple SD Gothic Neo"/>
              </a:rPr>
              <a:t>현행 캡처: 머그 18,000원 + 서빙 보드 32,000원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AC581B-E144-4CE6-8E29-09A48F56BB1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1dcf652e63463e"/>
          <a:stretch xmlns:a="http://schemas.openxmlformats.org/drawingml/2006/main"/>
        </p:blipFill>
        <p:spPr>
          <a:xfrm xmlns:a="http://schemas.openxmlformats.org/drawingml/2006/main">
            <a:off x="609600" y="2230142"/>
            <a:ext cx="6858000" cy="4417017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CDCE0C-A62E-45C0-B7E2-97A1507B1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2343150"/>
            <a:ext cx="37052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5F6D50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5F6D5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5F6D50"/>
                </a:solidFill>
                <a:latin typeface="Apple SD Gothic Neo"/>
                <a:ea typeface="Apple SD Gothic Neo"/>
                <a:cs typeface="Apple SD Gothic Neo"/>
              </a:rPr>
              <a:t>새 정책의 적용 예시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0061E0-DC89-45C6-9622-71DA9876E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3048000"/>
            <a:ext cx="3705225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303C30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303C3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0">
                <a:solidFill>
                  <a:srgbClr val="303C30"/>
                </a:solidFill>
                <a:latin typeface="Apple SD Gothic Neo"/>
                <a:ea typeface="Apple SD Gothic Neo"/>
                <a:cs typeface="Apple SD Gothic Neo"/>
              </a:rPr>
              <a:t>상품 합계 50,000원</a:t>
            </a:r>
          </a:p>
          <a:p xmlns:a="http://schemas.openxmlformats.org/drawingml/2006/main">
            <a:pPr>
              <a:defRPr sz="2100" b="0">
                <a:solidFill>
                  <a:srgbClr val="303C3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0">
                <a:solidFill>
                  <a:srgbClr val="303C30"/>
                </a:solidFill>
                <a:latin typeface="Apple SD Gothic Neo"/>
                <a:ea typeface="Apple SD Gothic Neo"/>
                <a:cs typeface="Apple SD Gothic Neo"/>
              </a:rPr>
              <a:t>배송비 무료</a:t>
            </a:r>
          </a:p>
          <a:p xmlns:a="http://schemas.openxmlformats.org/drawingml/2006/main">
            <a:pPr>
              <a:defRPr sz="2100" b="0">
                <a:solidFill>
                  <a:srgbClr val="303C3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0">
                <a:solidFill>
                  <a:srgbClr val="303C30"/>
                </a:solidFill>
                <a:latin typeface="Apple SD Gothic Neo"/>
                <a:ea typeface="Apple SD Gothic Neo"/>
                <a:cs typeface="Apple SD Gothic Neo"/>
              </a:rPr>
              <a:t>쿠폰 할인 3,000원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D71E9A-8714-4C5B-B376-A51A9492E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4600575"/>
            <a:ext cx="37052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75" b="1">
                <a:solidFill>
                  <a:srgbClr val="5F6D50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2775" b="1">
                <a:solidFill>
                  <a:srgbClr val="5F6D5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75" b="1">
                <a:solidFill>
                  <a:srgbClr val="5F6D50"/>
                </a:solidFill>
                <a:latin typeface="Apple SD Gothic Neo"/>
                <a:ea typeface="Apple SD Gothic Neo"/>
                <a:cs typeface="Apple SD Gothic Neo"/>
              </a:rPr>
              <a:t>최종 47,000원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34B591-2AD9-43A4-9B1D-2CC901AA9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5448300"/>
            <a:ext cx="37052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303C30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303C3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303C30"/>
                </a:solidFill>
                <a:latin typeface="Apple SD Gothic Neo"/>
                <a:ea typeface="Apple SD Gothic Neo"/>
                <a:cs typeface="Apple SD Gothic Neo"/>
              </a:rPr>
              <a:t>할인 후 금액이 5만원 미만이어도</a:t>
            </a:r>
          </a:p>
          <a:p xmlns:a="http://schemas.openxmlformats.org/drawingml/2006/main">
            <a:pPr>
              <a:defRPr sz="1800" b="0">
                <a:solidFill>
                  <a:srgbClr val="303C3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303C30"/>
                </a:solidFill>
                <a:latin typeface="Apple SD Gothic Neo"/>
                <a:ea typeface="Apple SD Gothic Neo"/>
                <a:cs typeface="Apple SD Gothic Neo"/>
              </a:rPr>
              <a:t>쿠폰 적용과 무료배송을 유지합니다.</a:t>
            </a:r>
          </a:p>
        </p:txBody>
      </p:sp>
    </p:spTree>
    <p:extLst>
      <p:ext uri="{BB962C8B-B14F-4D97-AF65-F5344CB8AC3E}">
        <p14:creationId xmlns:p14="http://schemas.microsoft.com/office/powerpoint/2010/main" val="185712484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C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C970C9-3AF7-4961-9CEB-0B70837E3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428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5F6D50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5F6D5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5F6D50"/>
                </a:solidFill>
                <a:latin typeface="Apple SD Gothic Neo"/>
                <a:ea typeface="Apple SD Gothic Neo"/>
                <a:cs typeface="Apple SD Gothic Neo"/>
              </a:rPr>
              <a:t>ondo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50B5C7-B504-4C78-AD53-C32A7EA4C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429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5F6D50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5F6D5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5F6D50"/>
                </a:solidFill>
                <a:latin typeface="Apple SD Gothic Neo"/>
                <a:ea typeface="Apple SD Gothic Neo"/>
                <a:cs typeface="Apple SD Gothic Neo"/>
              </a:rPr>
              <a:t>UX-1234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0DEEDF-9220-4C80-9C98-F79CCB1BA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429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757E6F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757E6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757E6F"/>
                </a:solidFill>
                <a:latin typeface="Apple SD Gothic Neo"/>
                <a:ea typeface="Apple SD Gothic Neo"/>
                <a:cs typeface="Apple SD Gothic Neo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86A618-F992-4F1F-9322-4A0E21FDE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1001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0">
                <a:solidFill>
                  <a:srgbClr val="303C30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3000" b="0">
                <a:solidFill>
                  <a:srgbClr val="303C3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0">
                <a:solidFill>
                  <a:srgbClr val="303C30"/>
                </a:solidFill>
                <a:latin typeface="Apple SD Gothic Neo"/>
                <a:ea typeface="Apple SD Gothic Neo"/>
                <a:cs typeface="Apple SD Gothic Neo"/>
              </a:rPr>
              <a:t>금액 경계와 예외 검증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71A6A0-47B1-4AD7-B809-BDEFFA43C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90700"/>
            <a:ext cx="10972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757E6F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757E6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757E6F"/>
                </a:solidFill>
                <a:latin typeface="Apple SD Gothic Neo"/>
                <a:ea typeface="Apple SD Gothic Neo"/>
                <a:cs typeface="Apple SD Gothic Neo"/>
              </a:rPr>
              <a:t>기본 전제: 로그인 상태, 미사용 쿠폰 선택 시도 / 금액 단위: 원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CB2559-59EE-4B0C-BDD4-FCC5EDCA1BBD}"/>
              </a:ext>
            </a:extLst>
          </p:cNvPr>
          <p:cNvGraphicFramePr/>
          <p:nvPr/>
        </p:nvGraphicFramePr>
        <p:xfrm>
          <a:off xmlns:a="http://schemas.openxmlformats.org/drawingml/2006/main" x="609600" y="2295525"/>
          <a:ext xmlns:a="http://schemas.openxmlformats.org/drawingml/2006/main" cx="10972800" cy="3124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81250"/>
                <a:gridCol w="2333625"/>
                <a:gridCol w="2000250"/>
                <a:gridCol w="2000250"/>
                <a:gridCol w="2257425"/>
              </a:tblGrid>
              <a:tr h="52070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303C3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상품 합계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DE2D5"/>
                      </a:solidFill>
                    </a:lnL>
                    <a:lnR w="9525">
                      <a:solidFill>
                        <a:srgbClr val="DDE2D5"/>
                      </a:solidFill>
                    </a:lnR>
                    <a:lnT w="9525">
                      <a:solidFill>
                        <a:srgbClr val="DDE2D5"/>
                      </a:solidFill>
                    </a:lnT>
                    <a:lnB w="9525">
                      <a:solidFill>
                        <a:srgbClr val="DDE2D5"/>
                      </a:solidFill>
                    </a:lnB>
                    <a:solidFill>
                      <a:srgbClr val="E7EC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303C3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쿠폰 선택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DE2D5"/>
                      </a:solidFill>
                    </a:lnR>
                    <a:lnT w="9525">
                      <a:solidFill>
                        <a:srgbClr val="DDE2D5"/>
                      </a:solidFill>
                    </a:lnT>
                    <a:lnB w="9525">
                      <a:solidFill>
                        <a:srgbClr val="DDE2D5"/>
                      </a:solidFill>
                    </a:lnB>
                    <a:solidFill>
                      <a:srgbClr val="E7EC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303C3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할인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DE2D5"/>
                      </a:solidFill>
                    </a:lnR>
                    <a:lnT w="9525">
                      <a:solidFill>
                        <a:srgbClr val="DDE2D5"/>
                      </a:solidFill>
                    </a:lnT>
                    <a:lnB w="9525">
                      <a:solidFill>
                        <a:srgbClr val="DDE2D5"/>
                      </a:solidFill>
                    </a:lnB>
                    <a:solidFill>
                      <a:srgbClr val="E7EC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303C3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배송비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DE2D5"/>
                      </a:solidFill>
                    </a:lnR>
                    <a:lnT w="9525">
                      <a:solidFill>
                        <a:srgbClr val="DDE2D5"/>
                      </a:solidFill>
                    </a:lnT>
                    <a:lnB w="9525">
                      <a:solidFill>
                        <a:srgbClr val="DDE2D5"/>
                      </a:solidFill>
                    </a:lnB>
                    <a:solidFill>
                      <a:srgbClr val="E7EC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303C3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최종 금액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DE2D5"/>
                      </a:solidFill>
                    </a:lnR>
                    <a:lnT w="9525">
                      <a:solidFill>
                        <a:srgbClr val="DDE2D5"/>
                      </a:solidFill>
                    </a:lnT>
                    <a:lnB w="9525">
                      <a:solidFill>
                        <a:srgbClr val="DDE2D5"/>
                      </a:solidFill>
                    </a:lnB>
                    <a:solidFill>
                      <a:srgbClr val="E7ECDF"/>
                    </a:solidFill>
                  </a:tcPr>
                </a:tc>
              </a:tr>
              <a:tr h="5207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303C3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29,999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DE2D5"/>
                      </a:solidFill>
                    </a:lnL>
                    <a:lnR w="9525">
                      <a:solidFill>
                        <a:srgbClr val="DDE2D5"/>
                      </a:solidFill>
                    </a:lnR>
                    <a:lnB w="9525">
                      <a:solidFill>
                        <a:srgbClr val="DDE2D5"/>
                      </a:solidFill>
                    </a:lnB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303C3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불가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DE2D5"/>
                      </a:solidFill>
                    </a:lnR>
                    <a:lnB w="9525">
                      <a:solidFill>
                        <a:srgbClr val="DDE2D5"/>
                      </a:solidFill>
                    </a:lnB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303C3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DE2D5"/>
                      </a:solidFill>
                    </a:lnR>
                    <a:lnB w="9525">
                      <a:solidFill>
                        <a:srgbClr val="DDE2D5"/>
                      </a:solidFill>
                    </a:lnB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303C3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3,000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DE2D5"/>
                      </a:solidFill>
                    </a:lnR>
                    <a:lnB w="9525">
                      <a:solidFill>
                        <a:srgbClr val="DDE2D5"/>
                      </a:solidFill>
                    </a:lnB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303C3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32,999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DE2D5"/>
                      </a:solidFill>
                    </a:lnR>
                    <a:lnB w="9525">
                      <a:solidFill>
                        <a:srgbClr val="DDE2D5"/>
                      </a:solidFill>
                    </a:lnB>
                    <a:solidFill>
                      <a:srgbClr val="FCFBF8"/>
                    </a:solidFill>
                  </a:tcPr>
                </a:tc>
              </a:tr>
              <a:tr h="5207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303C3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30,000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DE2D5"/>
                      </a:solidFill>
                    </a:lnL>
                    <a:lnR w="9525">
                      <a:solidFill>
                        <a:srgbClr val="DDE2D5"/>
                      </a:solidFill>
                    </a:lnR>
                    <a:lnB w="9525">
                      <a:solidFill>
                        <a:srgbClr val="DDE2D5"/>
                      </a:solidFill>
                    </a:lnB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303C3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불가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DE2D5"/>
                      </a:solidFill>
                    </a:lnR>
                    <a:lnB w="9525">
                      <a:solidFill>
                        <a:srgbClr val="DDE2D5"/>
                      </a:solidFill>
                    </a:lnB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303C3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DE2D5"/>
                      </a:solidFill>
                    </a:lnR>
                    <a:lnB w="9525">
                      <a:solidFill>
                        <a:srgbClr val="DDE2D5"/>
                      </a:solidFill>
                    </a:lnB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303C3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3,000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DE2D5"/>
                      </a:solidFill>
                    </a:lnR>
                    <a:lnB w="9525">
                      <a:solidFill>
                        <a:srgbClr val="DDE2D5"/>
                      </a:solidFill>
                    </a:lnB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303C3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33,000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DE2D5"/>
                      </a:solidFill>
                    </a:lnR>
                    <a:lnB w="9525">
                      <a:solidFill>
                        <a:srgbClr val="DDE2D5"/>
                      </a:solidFill>
                    </a:lnB>
                    <a:solidFill>
                      <a:srgbClr val="FCFBF8"/>
                    </a:solidFill>
                  </a:tcPr>
                </a:tc>
              </a:tr>
              <a:tr h="5207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303C3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49,999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DE2D5"/>
                      </a:solidFill>
                    </a:lnL>
                    <a:lnR w="9525">
                      <a:solidFill>
                        <a:srgbClr val="DDE2D5"/>
                      </a:solidFill>
                    </a:lnR>
                    <a:lnB w="9525">
                      <a:solidFill>
                        <a:srgbClr val="DDE2D5"/>
                      </a:solidFill>
                    </a:lnB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303C3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불가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DE2D5"/>
                      </a:solidFill>
                    </a:lnR>
                    <a:lnB w="9525">
                      <a:solidFill>
                        <a:srgbClr val="DDE2D5"/>
                      </a:solidFill>
                    </a:lnB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303C3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DE2D5"/>
                      </a:solidFill>
                    </a:lnR>
                    <a:lnB w="9525">
                      <a:solidFill>
                        <a:srgbClr val="DDE2D5"/>
                      </a:solidFill>
                    </a:lnB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303C3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3,000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DE2D5"/>
                      </a:solidFill>
                    </a:lnR>
                    <a:lnB w="9525">
                      <a:solidFill>
                        <a:srgbClr val="DDE2D5"/>
                      </a:solidFill>
                    </a:lnB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303C3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52,999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DE2D5"/>
                      </a:solidFill>
                    </a:lnR>
                    <a:lnB w="9525">
                      <a:solidFill>
                        <a:srgbClr val="DDE2D5"/>
                      </a:solidFill>
                    </a:lnB>
                    <a:solidFill>
                      <a:srgbClr val="FCFBF8"/>
                    </a:solidFill>
                  </a:tcPr>
                </a:tc>
              </a:tr>
              <a:tr h="5207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303C3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50,000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DE2D5"/>
                      </a:solidFill>
                    </a:lnL>
                    <a:lnR w="9525">
                      <a:solidFill>
                        <a:srgbClr val="DDE2D5"/>
                      </a:solidFill>
                    </a:lnR>
                    <a:lnB w="9525">
                      <a:solidFill>
                        <a:srgbClr val="DDE2D5"/>
                      </a:solidFill>
                    </a:lnB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303C3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가능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DE2D5"/>
                      </a:solidFill>
                    </a:lnR>
                    <a:lnB w="9525">
                      <a:solidFill>
                        <a:srgbClr val="DDE2D5"/>
                      </a:solidFill>
                    </a:lnB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303C3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3,000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DE2D5"/>
                      </a:solidFill>
                    </a:lnR>
                    <a:lnB w="9525">
                      <a:solidFill>
                        <a:srgbClr val="DDE2D5"/>
                      </a:solidFill>
                    </a:lnB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303C3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DE2D5"/>
                      </a:solidFill>
                    </a:lnR>
                    <a:lnB w="9525">
                      <a:solidFill>
                        <a:srgbClr val="DDE2D5"/>
                      </a:solidFill>
                    </a:lnB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303C3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47,000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DE2D5"/>
                      </a:solidFill>
                    </a:lnR>
                    <a:lnB w="9525">
                      <a:solidFill>
                        <a:srgbClr val="DDE2D5"/>
                      </a:solidFill>
                    </a:lnB>
                    <a:solidFill>
                      <a:srgbClr val="FCFBF8"/>
                    </a:solidFill>
                  </a:tcPr>
                </a:tc>
              </a:tr>
              <a:tr h="5207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303C3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50,001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DE2D5"/>
                      </a:solidFill>
                    </a:lnL>
                    <a:lnR w="9525">
                      <a:solidFill>
                        <a:srgbClr val="DDE2D5"/>
                      </a:solidFill>
                    </a:lnR>
                    <a:lnB w="9525">
                      <a:solidFill>
                        <a:srgbClr val="DDE2D5"/>
                      </a:solidFill>
                    </a:lnB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303C3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가능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DE2D5"/>
                      </a:solidFill>
                    </a:lnR>
                    <a:lnB w="9525">
                      <a:solidFill>
                        <a:srgbClr val="DDE2D5"/>
                      </a:solidFill>
                    </a:lnB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303C3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3,000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DE2D5"/>
                      </a:solidFill>
                    </a:lnR>
                    <a:lnB w="9525">
                      <a:solidFill>
                        <a:srgbClr val="DDE2D5"/>
                      </a:solidFill>
                    </a:lnB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303C3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DE2D5"/>
                      </a:solidFill>
                    </a:lnR>
                    <a:lnB w="9525">
                      <a:solidFill>
                        <a:srgbClr val="DDE2D5"/>
                      </a:solidFill>
                    </a:lnB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303C3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47,001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DE2D5"/>
                      </a:solidFill>
                    </a:lnR>
                    <a:lnB w="9525">
                      <a:solidFill>
                        <a:srgbClr val="DDE2D5"/>
                      </a:solidFill>
                    </a:lnB>
                    <a:solidFill>
                      <a:srgbClr val="FCFBF8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BE4BB9-AA3B-4EAB-A648-9D0C64295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24525"/>
            <a:ext cx="10972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5F6D50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F6D5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5F6D50"/>
                </a:solidFill>
                <a:latin typeface="Apple SD Gothic Neo"/>
                <a:ea typeface="Apple SD Gothic Neo"/>
                <a:cs typeface="Apple SD Gothic Neo"/>
              </a:rPr>
              <a:t>비로그인·이미 사용한 쿠폰은 금액과 관계없이 적용 불가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A5615E-7275-44D8-95BF-BBC2C856C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972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03C30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03C3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303C30"/>
                </a:solidFill>
                <a:latin typeface="Apple SD Gothic Neo"/>
                <a:ea typeface="Apple SD Gothic Neo"/>
                <a:cs typeface="Apple SD Gothic Neo"/>
              </a:rPr>
              <a:t>수량 감소로 5만원 미만이 되면 할인 해제, 주문 확정 시 조건 재검증</a:t>
            </a:r>
          </a:p>
        </p:txBody>
      </p:sp>
    </p:spTree>
    <p:extLst>
      <p:ext uri="{BB962C8B-B14F-4D97-AF65-F5344CB8AC3E}">
        <p14:creationId xmlns:p14="http://schemas.microsoft.com/office/powerpoint/2010/main" val="190290258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C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B4FBF6-FE48-4E5E-8A47-D30C64585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428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5F6D50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5F6D5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5F6D50"/>
                </a:solidFill>
                <a:latin typeface="Apple SD Gothic Neo"/>
                <a:ea typeface="Apple SD Gothic Neo"/>
                <a:cs typeface="Apple SD Gothic Neo"/>
              </a:rPr>
              <a:t>ondo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7CBF4D-8D08-4142-B366-474E72129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429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5F6D50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5F6D5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5F6D50"/>
                </a:solidFill>
                <a:latin typeface="Apple SD Gothic Neo"/>
                <a:ea typeface="Apple SD Gothic Neo"/>
                <a:cs typeface="Apple SD Gothic Neo"/>
              </a:rPr>
              <a:t>UX-1234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F648D9-7F27-4CB2-9ED8-43F145BAE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429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757E6F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757E6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757E6F"/>
                </a:solidFill>
                <a:latin typeface="Apple SD Gothic Neo"/>
                <a:ea typeface="Apple SD Gothic Neo"/>
                <a:cs typeface="Apple SD Gothic Neo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DB6B33-A9B4-4717-A56C-DC4FDCCF3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1001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0">
                <a:solidFill>
                  <a:srgbClr val="303C30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3000" b="0">
                <a:solidFill>
                  <a:srgbClr val="303C3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0">
                <a:solidFill>
                  <a:srgbClr val="303C30"/>
                </a:solidFill>
                <a:latin typeface="Apple SD Gothic Neo"/>
                <a:ea typeface="Apple SD Gothic Neo"/>
                <a:cs typeface="Apple SD Gothic Neo"/>
              </a:rPr>
              <a:t>반영 항목과 적용 전 확인 사항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2ED56B-3BC3-48DF-B170-09206AB15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52650"/>
            <a:ext cx="495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5F6D50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5F6D5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5F6D50"/>
                </a:solidFill>
                <a:latin typeface="Apple SD Gothic Neo"/>
                <a:ea typeface="Apple SD Gothic Neo"/>
                <a:cs typeface="Apple SD Gothic Neo"/>
              </a:rPr>
              <a:t>개발 반영 항목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2D22E2-3605-4189-A28D-2CCAC63F2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95600"/>
            <a:ext cx="523875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303C30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303C3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303C30"/>
                </a:solidFill>
                <a:latin typeface="Apple SD Gothic Neo"/>
                <a:ea typeface="Apple SD Gothic Neo"/>
                <a:cs typeface="Apple SD Gothic Neo"/>
              </a:rPr>
              <a:t>쿠폰 최소 금액을 50,000원으로 변경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303C3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303C30"/>
                </a:solidFill>
                <a:latin typeface="Apple SD Gothic Neo"/>
                <a:ea typeface="Apple SD Gothic Neo"/>
                <a:cs typeface="Apple SD Gothic Neo"/>
              </a:rPr>
              <a:t>안내 문구와 부족 금액을 같은 정책값으로 계산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303C3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303C30"/>
                </a:solidFill>
                <a:latin typeface="Apple SD Gothic Neo"/>
                <a:ea typeface="Apple SD Gothic Neo"/>
                <a:cs typeface="Apple SD Gothic Neo"/>
              </a:rPr>
              <a:t>쿠폰 선택, 합계, 주문 확정 조건을 함께 검증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303C3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303C30"/>
                </a:solidFill>
                <a:latin typeface="Apple SD Gothic Neo"/>
                <a:ea typeface="Apple SD Gothic Neo"/>
                <a:cs typeface="Apple SD Gothic Neo"/>
              </a:rPr>
              <a:t>경계 금액 테스트를 새 조건에 맞게 갱신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D3DC14-463D-47A2-8EB5-15C02F101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152650"/>
            <a:ext cx="495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5F6D50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5F6D5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5F6D50"/>
                </a:solidFill>
                <a:latin typeface="Apple SD Gothic Neo"/>
                <a:ea typeface="Apple SD Gothic Neo"/>
                <a:cs typeface="Apple SD Gothic Neo"/>
              </a:rPr>
              <a:t>운영 확인 사항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F321B8-8245-40B6-8028-99C451CC1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895600"/>
            <a:ext cx="4933950" cy="3286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303C30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303C3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303C30"/>
                </a:solidFill>
                <a:latin typeface="Apple SD Gothic Neo"/>
                <a:ea typeface="Apple SD Gothic Neo"/>
                <a:cs typeface="Apple SD Gothic Neo"/>
              </a:rPr>
              <a:t>정책 적용 일시: 미정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303C3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303C30"/>
                </a:solidFill>
                <a:latin typeface="Apple SD Gothic Neo"/>
                <a:ea typeface="Apple SD Gothic Neo"/>
                <a:cs typeface="Apple SD Gothic Neo"/>
              </a:rPr>
              <a:t>기발급 미사용 쿠폰에도 새 조건 적용 제안</a:t>
            </a:r>
          </a:p>
          <a:p xmlns:a="http://schemas.openxmlformats.org/drawingml/2006/main">
            <a:pPr>
              <a:defRPr sz="1800" b="0">
                <a:solidFill>
                  <a:srgbClr val="303C3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303C30"/>
                </a:solidFill>
                <a:latin typeface="Apple SD Gothic Neo"/>
                <a:ea typeface="Apple SD Gothic Neo"/>
                <a:cs typeface="Apple SD Gothic Neo"/>
              </a:rPr>
              <a:t>적용 대상 확정 필요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303C3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303C30"/>
                </a:solidFill>
                <a:latin typeface="Apple SD Gothic Neo"/>
                <a:ea typeface="Apple SD Gothic Neo"/>
                <a:cs typeface="Apple SD Gothic Neo"/>
              </a:rPr>
              <a:t>기존 쿠폰의 사용 완료 상태 유지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303C3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303C30"/>
                </a:solidFill>
                <a:latin typeface="Apple SD Gothic Neo"/>
                <a:ea typeface="Apple SD Gothic Neo"/>
                <a:cs typeface="Apple SD Gothic Neo"/>
              </a:rPr>
              <a:t>현재 문서는 기획 단계, 기능 반영은 후속 작업</a:t>
            </a:r>
          </a:p>
        </p:txBody>
      </p:sp>
    </p:spTree>
    <p:extLst>
      <p:ext uri="{BB962C8B-B14F-4D97-AF65-F5344CB8AC3E}">
        <p14:creationId xmlns:p14="http://schemas.microsoft.com/office/powerpoint/2010/main" val="51341670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2026-10-16T07:43:22.9690000Z</dcterms:created>
  <dcterms:modified xsi:type="dcterms:W3CDTF">2026-10-16T07:43:22.9690000Z</dcterms:modified>
</coreProperties>
</file>